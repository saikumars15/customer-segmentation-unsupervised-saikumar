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70" r:id="rId13"/>
    <p:sldId id="266" r:id="rId14"/>
    <p:sldId id="268" r:id="rId15"/>
  </p:sldIdLst>
  <p:sldSz cx="14630400" cy="8229600"/>
  <p:notesSz cx="8229600" cy="14630400"/>
  <p:embeddedFontLst>
    <p:embeddedFont>
      <p:font typeface="Heebo Light" pitchFamily="2" charset="-79"/>
      <p:regular r:id="rId17"/>
    </p:embeddedFont>
    <p:embeddedFont>
      <p:font typeface="Montserrat" panose="00000500000000000000" pitchFamily="2" charset="0"/>
      <p:regular r:id="rId18"/>
    </p:embeddedFont>
    <p:embeddedFont>
      <p:font typeface="Montserrat Light" panose="00000400000000000000" pitchFamily="2" charset="0"/>
      <p:regular r:id="rId19"/>
      <p: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3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6027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6401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AI-Driven Customer Intelligence 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32173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Advanced Customer Segmentation Using Unsupervised Learning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93978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Presented by:</a:t>
            </a: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SAI KUMAR | </a:t>
            </a:r>
            <a:r>
              <a:rPr lang="en-US" sz="17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Course:</a:t>
            </a: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Computer Science and Engineering | </a:t>
            </a:r>
            <a:r>
              <a:rPr lang="en-US" sz="17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Organization:</a:t>
            </a: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AENEXZ TECH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5970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Transforming Data into Strategic Intelligence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4442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Current Reality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025384"/>
            <a:ext cx="3501509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Organizations generate vast amounts of data daily, yet most of it remains unlabelled and complex. Traditional analytical methods struggle to extract deep, actionable insights from these multidimensional datasets.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4856321" y="34442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Solution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856321" y="4025384"/>
            <a:ext cx="350150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Unsupervised learning techniques unlock hidden patterns and natural groupings within data, converting raw information into meaningful business intelligence for strategic decision-making.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593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 Statement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998345"/>
            <a:ext cx="6407944" cy="2093714"/>
          </a:xfrm>
          <a:prstGeom prst="roundRect">
            <a:avLst>
              <a:gd name="adj" fmla="val 6988"/>
            </a:avLst>
          </a:prstGeom>
          <a:solidFill>
            <a:srgbClr val="0D0A2C">
              <a:alpha val="95000"/>
            </a:srgbClr>
          </a:solidFill>
          <a:ln w="30480">
            <a:solidFill>
              <a:srgbClr val="481C9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1998345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481C9E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2255639"/>
            <a:ext cx="297203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Lack of Labeled Data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2746058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Most business datasets lack predefined categories, making supervised learning approaches impractical and expensive to implement.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1998345"/>
            <a:ext cx="6408063" cy="2093714"/>
          </a:xfrm>
          <a:prstGeom prst="roundRect">
            <a:avLst>
              <a:gd name="adj" fmla="val 6988"/>
            </a:avLst>
          </a:prstGeom>
          <a:solidFill>
            <a:srgbClr val="0D0A2C">
              <a:alpha val="95000"/>
            </a:srgbClr>
          </a:solidFill>
          <a:ln w="30480">
            <a:solidFill>
              <a:srgbClr val="481C9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8067" y="1998345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481C9E"/>
          </a:solidFill>
          <a:ln/>
        </p:spPr>
      </p:sp>
      <p:sp>
        <p:nvSpPr>
          <p:cNvPr id="9" name="Text 7"/>
          <p:cNvSpPr/>
          <p:nvPr/>
        </p:nvSpPr>
        <p:spPr>
          <a:xfrm>
            <a:off x="7777282" y="2255639"/>
            <a:ext cx="36926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Segmentation Challenges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7282" y="2746058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Manual identification of customer segments is time-consuming, subjective, and often misses subtle but important patterns.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318873"/>
            <a:ext cx="6407944" cy="2093714"/>
          </a:xfrm>
          <a:prstGeom prst="roundRect">
            <a:avLst>
              <a:gd name="adj" fmla="val 6988"/>
            </a:avLst>
          </a:prstGeom>
          <a:solidFill>
            <a:srgbClr val="0D0A2C">
              <a:alpha val="95000"/>
            </a:srgbClr>
          </a:solidFill>
          <a:ln w="30480">
            <a:solidFill>
              <a:srgbClr val="481C9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3310" y="4318873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481C9E"/>
          </a:solidFill>
          <a:ln/>
        </p:spPr>
      </p:sp>
      <p:sp>
        <p:nvSpPr>
          <p:cNvPr id="13" name="Text 11"/>
          <p:cNvSpPr/>
          <p:nvPr/>
        </p:nvSpPr>
        <p:spPr>
          <a:xfrm>
            <a:off x="1142524" y="4576167"/>
            <a:ext cx="316051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Marketing Inefficiency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2524" y="5066586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Without proper segmentation, marketing campaigns target broad audiences instead of specific customer groups, reducing conversion rates.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318873"/>
            <a:ext cx="6408063" cy="2093714"/>
          </a:xfrm>
          <a:prstGeom prst="roundRect">
            <a:avLst>
              <a:gd name="adj" fmla="val 6988"/>
            </a:avLst>
          </a:prstGeom>
          <a:solidFill>
            <a:srgbClr val="0D0A2C">
              <a:alpha val="95000"/>
            </a:srgbClr>
          </a:solidFill>
          <a:ln w="30480">
            <a:solidFill>
              <a:srgbClr val="481C9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98067" y="4318873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481C9E"/>
          </a:solidFill>
          <a:ln/>
        </p:spPr>
      </p:sp>
      <p:sp>
        <p:nvSpPr>
          <p:cNvPr id="17" name="Text 15"/>
          <p:cNvSpPr/>
          <p:nvPr/>
        </p:nvSpPr>
        <p:spPr>
          <a:xfrm>
            <a:off x="7777282" y="45761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Retention Issues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7282" y="5066586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Poor understanding of customer behavior leads to ineffective retention strategies and increased churn rates.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93790" y="666773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Our Approach:</a:t>
            </a: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Develop an automated, scalable segmentation system using advanced clustering techniques to identify meaningful customer groups.</a:t>
            </a:r>
            <a:endParaRPr lang="en-US" sz="175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D45C449-5252-6C78-B046-2ABED1186114}"/>
              </a:ext>
            </a:extLst>
          </p:cNvPr>
          <p:cNvSpPr/>
          <p:nvPr/>
        </p:nvSpPr>
        <p:spPr>
          <a:xfrm>
            <a:off x="12811125" y="7715250"/>
            <a:ext cx="1752600" cy="43815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314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Objectives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8554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840593"/>
            <a:ext cx="4196358" cy="3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014901"/>
            <a:ext cx="340018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End-to-End ML Pipeline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3505319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Design and implement a complete machine learning workflow from data ingestion to insight generation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16962" y="248554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962" y="2840593"/>
            <a:ext cx="4196358" cy="30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16962" y="30149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Preparation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16962" y="3505319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Perform comprehensive preprocessing, cleaning, and feature engineering to ensure data quality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9640133" y="248554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7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133" y="2863215"/>
            <a:ext cx="4196358" cy="30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40133" y="30149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Algorithm Selection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40133" y="3505319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Apply and compare multiple clustering algorithms to identify optimal approach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7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323165"/>
            <a:ext cx="6407944" cy="30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93790" y="5520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Cluster Validation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793790" y="6010632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Use evaluation metrics to determine optimal number of clusters and model performance</a:t>
            </a:r>
            <a:endParaRPr lang="en-US" sz="1750" dirty="0"/>
          </a:p>
        </p:txBody>
      </p:sp>
      <p:sp>
        <p:nvSpPr>
          <p:cNvPr id="19" name="Text 13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05</a:t>
            </a:r>
            <a:endParaRPr lang="en-US" sz="17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8548" y="5323165"/>
            <a:ext cx="6407944" cy="30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428548" y="5520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Insights</a:t>
            </a:r>
            <a:endParaRPr lang="en-US" sz="2200" dirty="0"/>
          </a:p>
        </p:txBody>
      </p:sp>
      <p:sp>
        <p:nvSpPr>
          <p:cNvPr id="22" name="Text 15"/>
          <p:cNvSpPr/>
          <p:nvPr/>
        </p:nvSpPr>
        <p:spPr>
          <a:xfrm>
            <a:off x="7428548" y="6010632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Translate technical findings into actionable business recommendations</a:t>
            </a:r>
            <a:endParaRPr lang="en-US" sz="175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85BB2A9-4122-7FEF-6E55-F0AB50921758}"/>
              </a:ext>
            </a:extLst>
          </p:cNvPr>
          <p:cNvSpPr/>
          <p:nvPr/>
        </p:nvSpPr>
        <p:spPr>
          <a:xfrm>
            <a:off x="12811125" y="7715250"/>
            <a:ext cx="1752600" cy="43815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9369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55984"/>
            <a:ext cx="63796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7K+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2565916" y="31877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Records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678198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Real-world automobile dataset with comprehensive vehicle information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456884" y="2155984"/>
            <a:ext cx="63797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9229130" y="31877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Attributes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56884" y="3678198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Mixed data types including numerical and categorical features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48859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93790" y="5467112"/>
            <a:ext cx="6244709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Price, Year, Kilometers Driven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Fuel Type, Transmission Type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Engine Capacity, Power Output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Seating Capacity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48859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Challenges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599521" y="5438537"/>
            <a:ext cx="62447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Missing values in multiple fields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Noise and data inconsistencies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Mixed data types requiring special handling</a:t>
            </a:r>
            <a:endParaRPr lang="en-US" sz="17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2AED5C4-C5BF-53CF-B442-227335A1BE43}"/>
              </a:ext>
            </a:extLst>
          </p:cNvPr>
          <p:cNvSpPr/>
          <p:nvPr/>
        </p:nvSpPr>
        <p:spPr>
          <a:xfrm>
            <a:off x="12811125" y="7715250"/>
            <a:ext cx="1752600" cy="43815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5681"/>
            <a:ext cx="1208960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Preprocessing &amp; Feature Engineering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61436"/>
            <a:ext cx="32568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Preprocessing Pipeline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695694"/>
            <a:ext cx="113348" cy="1133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3951" y="2570917"/>
            <a:ext cx="590454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Missing Value Handling:</a:t>
            </a: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Imputation and deletion strategies based on data patterns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875127"/>
            <a:ext cx="113348" cy="1133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33951" y="3750350"/>
            <a:ext cx="590454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Data Cleaning:</a:t>
            </a: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Removing duplicates and correcting inconsistencies</a:t>
            </a:r>
            <a:endParaRPr lang="en-US" sz="17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054560"/>
            <a:ext cx="113348" cy="11334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33951" y="4929783"/>
            <a:ext cx="590454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Encoding:</a:t>
            </a: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Converting categorical variables into numerical representations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6233993"/>
            <a:ext cx="113348" cy="11334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33951" y="6109216"/>
            <a:ext cx="590454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Outlier Removal:</a:t>
            </a: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IQR-based detection and treatment</a:t>
            </a:r>
            <a:endParaRPr lang="en-US" sz="17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7050524"/>
            <a:ext cx="113348" cy="11334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33951" y="6925747"/>
            <a:ext cx="590454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Feature Scaling:</a:t>
            </a: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Normalization for algorithm compatibility</a:t>
            </a:r>
            <a:endParaRPr lang="en-US" sz="1750" dirty="0"/>
          </a:p>
        </p:txBody>
      </p:sp>
      <p:sp>
        <p:nvSpPr>
          <p:cNvPr id="14" name="Text 7"/>
          <p:cNvSpPr/>
          <p:nvPr/>
        </p:nvSpPr>
        <p:spPr>
          <a:xfrm>
            <a:off x="7599521" y="1961436"/>
            <a:ext cx="296608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Engineered Features</a:t>
            </a:r>
            <a:endParaRPr lang="en-US" sz="22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9521" y="2695694"/>
            <a:ext cx="113348" cy="11334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7939683" y="2570917"/>
            <a:ext cx="590454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Car Age:</a:t>
            </a: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Calculated from manufacturing year for depreciation analysis</a:t>
            </a:r>
            <a:endParaRPr lang="en-US" sz="17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9521" y="3875127"/>
            <a:ext cx="113348" cy="113348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7939683" y="3750350"/>
            <a:ext cx="590454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Price per KM:</a:t>
            </a: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Value-for-money indicator</a:t>
            </a:r>
            <a:endParaRPr lang="en-US" sz="175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9521" y="4691658"/>
            <a:ext cx="113348" cy="113348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7939683" y="4566880"/>
            <a:ext cx="590454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Engine-to-Price Ratio:</a:t>
            </a: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Performance-to-cost metric</a:t>
            </a:r>
            <a:endParaRPr lang="en-US" sz="1750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9521" y="5508188"/>
            <a:ext cx="113348" cy="113348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7939683" y="5383411"/>
            <a:ext cx="590454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RFM-like Features:</a:t>
            </a: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Recency, frequency, monetary value indicators</a:t>
            </a:r>
            <a:endParaRPr lang="en-US" sz="175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137E145-F8E7-D29C-EDF7-437C21CBA7B1}"/>
              </a:ext>
            </a:extLst>
          </p:cNvPr>
          <p:cNvSpPr/>
          <p:nvPr/>
        </p:nvSpPr>
        <p:spPr>
          <a:xfrm>
            <a:off x="12811125" y="7715250"/>
            <a:ext cx="1752600" cy="43815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919" y="1010722"/>
            <a:ext cx="7864673" cy="612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Clustering Algorithms Deployed</a:t>
            </a:r>
            <a:endParaRPr lang="en-US" sz="3850" dirty="0"/>
          </a:p>
        </p:txBody>
      </p:sp>
      <p:sp>
        <p:nvSpPr>
          <p:cNvPr id="3" name="Shape 1"/>
          <p:cNvSpPr/>
          <p:nvPr/>
        </p:nvSpPr>
        <p:spPr>
          <a:xfrm>
            <a:off x="685919" y="1961674"/>
            <a:ext cx="6544628" cy="2448758"/>
          </a:xfrm>
          <a:prstGeom prst="roundRect">
            <a:avLst>
              <a:gd name="adj" fmla="val 3361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516" y="2165271"/>
            <a:ext cx="587931" cy="587931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1203" y="2326838"/>
            <a:ext cx="264557" cy="26455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89516" y="2922508"/>
            <a:ext cx="2449711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K-Means Clustering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889516" y="3330297"/>
            <a:ext cx="6137434" cy="584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Centroid-based partitioning that groups data into spherical clusters. Efficient for large datasets and widely used in business applications.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7399853" y="1961674"/>
            <a:ext cx="6544628" cy="2448758"/>
          </a:xfrm>
          <a:prstGeom prst="roundRect">
            <a:avLst>
              <a:gd name="adj" fmla="val 3361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3450" y="2165271"/>
            <a:ext cx="587931" cy="587931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65137" y="2326838"/>
            <a:ext cx="264557" cy="26455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03450" y="2922508"/>
            <a:ext cx="2780943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Hierarchical Clustering</a:t>
            </a:r>
            <a:endParaRPr lang="en-US" sz="1900" dirty="0"/>
          </a:p>
        </p:txBody>
      </p:sp>
      <p:sp>
        <p:nvSpPr>
          <p:cNvPr id="12" name="Text 6"/>
          <p:cNvSpPr/>
          <p:nvPr/>
        </p:nvSpPr>
        <p:spPr>
          <a:xfrm>
            <a:off x="7603450" y="3330297"/>
            <a:ext cx="6137434" cy="876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Tree-based approach that creates nested clusters. Provides clear visualization through dendrograms and doesn't require pre-specifying cluster count.</a:t>
            </a:r>
            <a:endParaRPr lang="en-US" sz="1500" dirty="0"/>
          </a:p>
        </p:txBody>
      </p:sp>
      <p:sp>
        <p:nvSpPr>
          <p:cNvPr id="13" name="Shape 7"/>
          <p:cNvSpPr/>
          <p:nvPr/>
        </p:nvSpPr>
        <p:spPr>
          <a:xfrm>
            <a:off x="685919" y="4579739"/>
            <a:ext cx="6544628" cy="2156579"/>
          </a:xfrm>
          <a:prstGeom prst="roundRect">
            <a:avLst>
              <a:gd name="adj" fmla="val 3817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9516" y="4783336"/>
            <a:ext cx="587931" cy="587931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51203" y="4944904"/>
            <a:ext cx="264557" cy="264557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89516" y="5540573"/>
            <a:ext cx="2449711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DBSCAN</a:t>
            </a:r>
            <a:endParaRPr lang="en-US" sz="1900" dirty="0"/>
          </a:p>
        </p:txBody>
      </p:sp>
      <p:sp>
        <p:nvSpPr>
          <p:cNvPr id="17" name="Text 9"/>
          <p:cNvSpPr/>
          <p:nvPr/>
        </p:nvSpPr>
        <p:spPr>
          <a:xfrm>
            <a:off x="889516" y="5948363"/>
            <a:ext cx="6137434" cy="584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Density-based clustering that identifies outliers naturally. Excellent for finding irregularly shaped clusters and handling noise in data.</a:t>
            </a:r>
            <a:endParaRPr lang="en-US" sz="1500" dirty="0"/>
          </a:p>
        </p:txBody>
      </p:sp>
      <p:sp>
        <p:nvSpPr>
          <p:cNvPr id="18" name="Shape 10"/>
          <p:cNvSpPr/>
          <p:nvPr/>
        </p:nvSpPr>
        <p:spPr>
          <a:xfrm>
            <a:off x="7399853" y="4579739"/>
            <a:ext cx="6544628" cy="2156579"/>
          </a:xfrm>
          <a:prstGeom prst="roundRect">
            <a:avLst>
              <a:gd name="adj" fmla="val 3817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03450" y="4783336"/>
            <a:ext cx="587931" cy="587931"/>
          </a:xfrm>
          <a:prstGeom prst="rect">
            <a:avLst/>
          </a:prstGeom>
        </p:spPr>
      </p:pic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765137" y="4944904"/>
            <a:ext cx="264557" cy="264557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7603450" y="5540573"/>
            <a:ext cx="2945130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Gaussian Mixture Model</a:t>
            </a:r>
            <a:endParaRPr lang="en-US" sz="1900" dirty="0"/>
          </a:p>
        </p:txBody>
      </p:sp>
      <p:sp>
        <p:nvSpPr>
          <p:cNvPr id="22" name="Text 12"/>
          <p:cNvSpPr/>
          <p:nvPr/>
        </p:nvSpPr>
        <p:spPr>
          <a:xfrm>
            <a:off x="7603450" y="5948363"/>
            <a:ext cx="6137434" cy="584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Probabilistic approach that allows overlapping clusters. Provides soft clustering with membership probabilities for each data point.</a:t>
            </a:r>
            <a:endParaRPr lang="en-US" sz="1500" dirty="0"/>
          </a:p>
        </p:txBody>
      </p:sp>
      <p:sp>
        <p:nvSpPr>
          <p:cNvPr id="23" name="Text 13"/>
          <p:cNvSpPr/>
          <p:nvPr/>
        </p:nvSpPr>
        <p:spPr>
          <a:xfrm>
            <a:off x="685919" y="6926699"/>
            <a:ext cx="13258562" cy="292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b="1" dirty="0">
                <a:solidFill>
                  <a:srgbClr val="481C9E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Purpose:</a:t>
            </a:r>
            <a:r>
              <a:rPr lang="en-US" sz="15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Compare model performance across various evaluation metrics to identify the most effective segmentation approach for business applications.</a:t>
            </a:r>
            <a:endParaRPr lang="en-US" sz="15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240FFD2-D180-83A6-1A4C-ED0A6DCAF039}"/>
              </a:ext>
            </a:extLst>
          </p:cNvPr>
          <p:cNvSpPr/>
          <p:nvPr/>
        </p:nvSpPr>
        <p:spPr>
          <a:xfrm>
            <a:off x="12811125" y="7715250"/>
            <a:ext cx="1752600" cy="43815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933349"/>
            <a:ext cx="869192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10046732" y="3933349"/>
            <a:ext cx="37973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5" name="Picture 4" descr="A diagram of red dots&#10;&#10;AI-generated content may be incorrect.">
            <a:extLst>
              <a:ext uri="{FF2B5EF4-FFF2-40B4-BE49-F238E27FC236}">
                <a16:creationId xmlns:a16="http://schemas.microsoft.com/office/drawing/2014/main" id="{D2D8F58D-E099-F4B5-101C-71E2A7C8C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343" y="1400175"/>
            <a:ext cx="6560242" cy="5212039"/>
          </a:xfrm>
          <a:prstGeom prst="rect">
            <a:avLst/>
          </a:prstGeom>
        </p:spPr>
      </p:pic>
      <p:pic>
        <p:nvPicPr>
          <p:cNvPr id="7" name="Picture 6" descr="A colorful lines in a white background&#10;&#10;AI-generated content may be incorrect.">
            <a:extLst>
              <a:ext uri="{FF2B5EF4-FFF2-40B4-BE49-F238E27FC236}">
                <a16:creationId xmlns:a16="http://schemas.microsoft.com/office/drawing/2014/main" id="{0825B2BF-732B-552C-11E4-7ED3C4DAE0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4547" y="1400175"/>
            <a:ext cx="6879526" cy="51816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E7FCC09-44ED-88D9-837C-3E9836EC2D73}"/>
              </a:ext>
            </a:extLst>
          </p:cNvPr>
          <p:cNvSpPr/>
          <p:nvPr/>
        </p:nvSpPr>
        <p:spPr>
          <a:xfrm>
            <a:off x="12811125" y="7715250"/>
            <a:ext cx="1752600" cy="43815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7603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endParaRPr lang="en-US" sz="4450" dirty="0"/>
          </a:p>
        </p:txBody>
      </p:sp>
      <p:pic>
        <p:nvPicPr>
          <p:cNvPr id="4" name="Picture 3" descr="A diagram of red dots&#10;&#10;AI-generated content may be incorrect.">
            <a:extLst>
              <a:ext uri="{FF2B5EF4-FFF2-40B4-BE49-F238E27FC236}">
                <a16:creationId xmlns:a16="http://schemas.microsoft.com/office/drawing/2014/main" id="{EC6E1D04-5248-9866-D6B6-F14BCBED6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705" y="1271299"/>
            <a:ext cx="6710946" cy="5279992"/>
          </a:xfrm>
          <a:prstGeom prst="rect">
            <a:avLst/>
          </a:prstGeom>
        </p:spPr>
      </p:pic>
      <p:pic>
        <p:nvPicPr>
          <p:cNvPr id="10" name="Picture 9" descr="A screen shot of a diagram&#10;&#10;AI-generated content may be incorrect.">
            <a:extLst>
              <a:ext uri="{FF2B5EF4-FFF2-40B4-BE49-F238E27FC236}">
                <a16:creationId xmlns:a16="http://schemas.microsoft.com/office/drawing/2014/main" id="{1F42AB51-B67A-4868-38AB-B1BACDEDAE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4607" y="1245139"/>
            <a:ext cx="6710946" cy="530615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39DB2FF-7970-CC7D-3CDD-7D7ABFF4EF91}"/>
              </a:ext>
            </a:extLst>
          </p:cNvPr>
          <p:cNvSpPr/>
          <p:nvPr/>
        </p:nvSpPr>
        <p:spPr>
          <a:xfrm>
            <a:off x="12811125" y="7715250"/>
            <a:ext cx="1752600" cy="43815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57649" y="2258020"/>
            <a:ext cx="5447109" cy="420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Evaluation &amp; Visualization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5957649" y="2878693"/>
            <a:ext cx="1683425" cy="210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Evaluation Metrics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957649" y="3178969"/>
            <a:ext cx="303014" cy="303014"/>
          </a:xfrm>
          <a:prstGeom prst="roundRect">
            <a:avLst>
              <a:gd name="adj" fmla="val 18667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340554" y="3225165"/>
            <a:ext cx="1683425" cy="210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Silhouette Score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340554" y="3515439"/>
            <a:ext cx="3553658" cy="51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Measures how similar an object is to its own cluster compared to other clusters. Values range from -1 to 1, with higher values indicating better clustering.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957649" y="4190405"/>
            <a:ext cx="303014" cy="303014"/>
          </a:xfrm>
          <a:prstGeom prst="roundRect">
            <a:avLst>
              <a:gd name="adj" fmla="val 18667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40554" y="4236601"/>
            <a:ext cx="1796296" cy="210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Davies-Bouldin Index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340554" y="4526875"/>
            <a:ext cx="3553658" cy="51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Evaluates cluster compactness and separation. Lower values indicate better clustering quality with distinct, well-separated groups.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957649" y="5201841"/>
            <a:ext cx="303014" cy="303014"/>
          </a:xfrm>
          <a:prstGeom prst="roundRect">
            <a:avLst>
              <a:gd name="adj" fmla="val 18667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40554" y="5248037"/>
            <a:ext cx="2003584" cy="210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Calinski-Harabasz Score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340554" y="5538311"/>
            <a:ext cx="3553658" cy="343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Ratio of between-cluster dispersion to within-cluster dispersion. Higher values indicate better-defined clusters.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0230207" y="2878693"/>
            <a:ext cx="2072521" cy="210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Visualization Techniques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10230207" y="3178969"/>
            <a:ext cx="303014" cy="303014"/>
          </a:xfrm>
          <a:prstGeom prst="roundRect">
            <a:avLst>
              <a:gd name="adj" fmla="val 18667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613112" y="3225165"/>
            <a:ext cx="3033474" cy="210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Principal Component Analysis (PCA)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613112" y="3515439"/>
            <a:ext cx="3553658" cy="51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Dimensionality reduction technique that projects high-dimensional data into 2D space for intuitive cluster visualization.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0230207" y="4190405"/>
            <a:ext cx="303014" cy="303014"/>
          </a:xfrm>
          <a:prstGeom prst="roundRect">
            <a:avLst>
              <a:gd name="adj" fmla="val 18667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613112" y="4236601"/>
            <a:ext cx="1683425" cy="210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t-SNE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0613112" y="4526875"/>
            <a:ext cx="3553658" cy="51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t-Distributed Stochastic Neighbor Embedding provides advanced visualization by preserving local structures and revealing complex patterns.</a:t>
            </a:r>
            <a:endParaRPr lang="en-US" sz="10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7ED6061-7481-6047-38D5-9A3BC41A6033}"/>
              </a:ext>
            </a:extLst>
          </p:cNvPr>
          <p:cNvSpPr/>
          <p:nvPr/>
        </p:nvSpPr>
        <p:spPr>
          <a:xfrm>
            <a:off x="12811125" y="7715250"/>
            <a:ext cx="1752600" cy="43815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D87400AA-CDC3-6D92-D5A8-BAF5C9BEE3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451"/>
          <a:stretch/>
        </p:blipFill>
        <p:spPr>
          <a:xfrm>
            <a:off x="8029175" y="1562101"/>
            <a:ext cx="6034641" cy="1209740"/>
          </a:xfrm>
          <a:prstGeom prst="rect">
            <a:avLst/>
          </a:prstGeom>
        </p:spPr>
      </p:pic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2F1FC037-A853-15DE-77B9-D06F1354D9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75" y="3193149"/>
            <a:ext cx="6227276" cy="1434235"/>
          </a:xfrm>
          <a:prstGeom prst="rect">
            <a:avLst/>
          </a:prstGeom>
        </p:spPr>
      </p:pic>
      <p:pic>
        <p:nvPicPr>
          <p:cNvPr id="7" name="Picture 6" descr="A graph with a line&#10;&#10;AI-generated content may be incorrect.">
            <a:extLst>
              <a:ext uri="{FF2B5EF4-FFF2-40B4-BE49-F238E27FC236}">
                <a16:creationId xmlns:a16="http://schemas.microsoft.com/office/drawing/2014/main" id="{BFC77A23-AA05-D289-D2BC-B5722242BC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500" y="1446453"/>
            <a:ext cx="6896500" cy="533669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89BAB86-34F2-DC41-84D0-A6FF6C6B7753}"/>
              </a:ext>
            </a:extLst>
          </p:cNvPr>
          <p:cNvSpPr/>
          <p:nvPr/>
        </p:nvSpPr>
        <p:spPr>
          <a:xfrm>
            <a:off x="12811125" y="7715250"/>
            <a:ext cx="1752600" cy="43815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0429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green diagram&#10;&#10;AI-generated content may be incorrect.">
            <a:extLst>
              <a:ext uri="{FF2B5EF4-FFF2-40B4-BE49-F238E27FC236}">
                <a16:creationId xmlns:a16="http://schemas.microsoft.com/office/drawing/2014/main" id="{A27660B2-EA85-E857-137E-A3B4068E2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164" y="2052349"/>
            <a:ext cx="12508071" cy="412490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EEAA6AE-3A25-B6A5-477C-5A3B5EDCC2B4}"/>
              </a:ext>
            </a:extLst>
          </p:cNvPr>
          <p:cNvSpPr/>
          <p:nvPr/>
        </p:nvSpPr>
        <p:spPr>
          <a:xfrm>
            <a:off x="12811125" y="7715250"/>
            <a:ext cx="1752600" cy="43815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86695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63378" y="1059418"/>
            <a:ext cx="6022181" cy="457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8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Cluster Insights &amp; Business Value</a:t>
            </a:r>
            <a:endParaRPr lang="en-US" sz="2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3378" y="1705928"/>
            <a:ext cx="732115" cy="8785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089910" y="1852255"/>
            <a:ext cx="1920478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High-Value Segment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3089910" y="2137648"/>
            <a:ext cx="9276993" cy="192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Premium customers with highest spending patterns and brand loyalty. Target for retention programs and premium offerings.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3378" y="2584490"/>
            <a:ext cx="732115" cy="8785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089910" y="2730818"/>
            <a:ext cx="1830348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Budget Segment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3089910" y="3016210"/>
            <a:ext cx="9276993" cy="192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Price-sensitive customers seeking value-for-money options. Ideal for promotional campaigns and entry-level products.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3378" y="3463052"/>
            <a:ext cx="732115" cy="87856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089910" y="3609380"/>
            <a:ext cx="1830348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Moderate Segment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3089910" y="3894773"/>
            <a:ext cx="9276993" cy="192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Mid-range customers with balanced preferences. Focus on building brand affinity and upselling opportunities.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3378" y="4341614"/>
            <a:ext cx="732115" cy="87856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089910" y="4487942"/>
            <a:ext cx="1850350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Low-Value Segment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3089910" y="4773335"/>
            <a:ext cx="9276993" cy="192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At-risk customers showing churn indicators. Immediate intervention required with personalized offers and customer service.</a:t>
            </a:r>
            <a:endParaRPr lang="en-US" sz="1150" dirty="0"/>
          </a:p>
        </p:txBody>
      </p:sp>
      <p:sp>
        <p:nvSpPr>
          <p:cNvPr id="15" name="Shape 9"/>
          <p:cNvSpPr/>
          <p:nvPr/>
        </p:nvSpPr>
        <p:spPr>
          <a:xfrm>
            <a:off x="2263378" y="5399658"/>
            <a:ext cx="10103525" cy="25837"/>
          </a:xfrm>
          <a:prstGeom prst="rect">
            <a:avLst/>
          </a:prstGeom>
          <a:solidFill>
            <a:srgbClr val="DCD7E5">
              <a:alpha val="50000"/>
            </a:srgbClr>
          </a:solidFill>
          <a:ln/>
        </p:spPr>
      </p:sp>
      <p:sp>
        <p:nvSpPr>
          <p:cNvPr id="16" name="Text 10"/>
          <p:cNvSpPr/>
          <p:nvPr/>
        </p:nvSpPr>
        <p:spPr>
          <a:xfrm>
            <a:off x="2263378" y="5567124"/>
            <a:ext cx="2949059" cy="274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Business Insights</a:t>
            </a:r>
            <a:endParaRPr lang="en-US" sz="1700" dirty="0"/>
          </a:p>
        </p:txBody>
      </p:sp>
      <p:sp>
        <p:nvSpPr>
          <p:cNvPr id="17" name="Shape 11"/>
          <p:cNvSpPr/>
          <p:nvPr/>
        </p:nvSpPr>
        <p:spPr>
          <a:xfrm>
            <a:off x="2263378" y="5983367"/>
            <a:ext cx="3304818" cy="1186815"/>
          </a:xfrm>
          <a:prstGeom prst="roundRect">
            <a:avLst>
              <a:gd name="adj" fmla="val 5182"/>
            </a:avLst>
          </a:prstGeom>
          <a:solidFill>
            <a:srgbClr val="0D0A2C">
              <a:alpha val="95000"/>
            </a:srgbClr>
          </a:solidFill>
          <a:ln w="15240">
            <a:solidFill>
              <a:srgbClr val="4A2C85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2424946" y="6144935"/>
            <a:ext cx="2061210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 Optimization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2424946" y="6430328"/>
            <a:ext cx="2981682" cy="578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High-value segment generates maximum revenue contribution, justifying dedicated resources and premium services.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662613" y="5983367"/>
            <a:ext cx="3304937" cy="1186815"/>
          </a:xfrm>
          <a:prstGeom prst="roundRect">
            <a:avLst>
              <a:gd name="adj" fmla="val 5182"/>
            </a:avLst>
          </a:prstGeom>
          <a:solidFill>
            <a:srgbClr val="0D0A2C">
              <a:alpha val="95000"/>
            </a:srgbClr>
          </a:solidFill>
          <a:ln w="15240">
            <a:solidFill>
              <a:srgbClr val="4A2C85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824180" y="6144935"/>
            <a:ext cx="1830348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Churn Prediction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824180" y="6430328"/>
            <a:ext cx="2981801" cy="578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Low-value segment identification enables proactive retention strategies before customers switch to competitors.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9061966" y="5983367"/>
            <a:ext cx="3304818" cy="1186815"/>
          </a:xfrm>
          <a:prstGeom prst="roundRect">
            <a:avLst>
              <a:gd name="adj" fmla="val 5182"/>
            </a:avLst>
          </a:prstGeom>
          <a:solidFill>
            <a:srgbClr val="0D0A2C">
              <a:alpha val="95000"/>
            </a:srgbClr>
          </a:solidFill>
          <a:ln w="15240">
            <a:solidFill>
              <a:srgbClr val="4A2C85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9223534" y="6144935"/>
            <a:ext cx="1873925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Marketing Efficiency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9223534" y="6430328"/>
            <a:ext cx="2981682" cy="578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Segment-specific campaigns increase conversion rates by 35-50% compared to blanket marketing approaches.</a:t>
            </a:r>
            <a:endParaRPr lang="en-US" sz="115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AD31390-E4AD-3D16-9359-3C5AE4A2E097}"/>
              </a:ext>
            </a:extLst>
          </p:cNvPr>
          <p:cNvSpPr/>
          <p:nvPr/>
        </p:nvSpPr>
        <p:spPr>
          <a:xfrm>
            <a:off x="12811125" y="7715250"/>
            <a:ext cx="1752600" cy="43815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73247" y="1789390"/>
            <a:ext cx="4670941" cy="434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 &amp; Future Scope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973247" y="2437209"/>
            <a:ext cx="1911191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Achievements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5973247" y="2750463"/>
            <a:ext cx="312896" cy="312896"/>
          </a:xfrm>
          <a:prstGeom prst="roundRect">
            <a:avLst>
              <a:gd name="adj" fmla="val 18673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371392" y="2798207"/>
            <a:ext cx="1924526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Complete ML Pipeline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371392" y="3100745"/>
            <a:ext cx="3517344" cy="179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End-to-end system from raw data to business insights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973247" y="3450788"/>
            <a:ext cx="312896" cy="312896"/>
          </a:xfrm>
          <a:prstGeom prst="roundRect">
            <a:avLst>
              <a:gd name="adj" fmla="val 18673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71392" y="3498533"/>
            <a:ext cx="1738789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Pattern Discovery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371392" y="3801070"/>
            <a:ext cx="3517344" cy="35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Extracted meaningful patterns from complex, unlabelled data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973247" y="4330541"/>
            <a:ext cx="312896" cy="312896"/>
          </a:xfrm>
          <a:prstGeom prst="roundRect">
            <a:avLst>
              <a:gd name="adj" fmla="val 18673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71392" y="4378285"/>
            <a:ext cx="1879044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Decision Enablement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371392" y="4680823"/>
            <a:ext cx="3517344" cy="35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Enabled data-driven strategic decision-making for business stakeholders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0235684" y="2437209"/>
            <a:ext cx="1964174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Future Enhancements</a:t>
            </a:r>
            <a:endParaRPr lang="en-US" sz="13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5684" y="2826901"/>
            <a:ext cx="69533" cy="6953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390465" y="2750463"/>
            <a:ext cx="3760708" cy="35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Real-Time Dashboards:</a:t>
            </a: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Interactive visualizations with live data streaming</a:t>
            </a:r>
            <a:endParaRPr lang="en-US" sz="105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5684" y="3356372"/>
            <a:ext cx="69533" cy="6953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390465" y="3279934"/>
            <a:ext cx="3760708" cy="35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Autoencoder Clustering:</a:t>
            </a: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Deep learning-based dimensionality reduction</a:t>
            </a:r>
            <a:endParaRPr lang="en-US" sz="105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5684" y="3885843"/>
            <a:ext cx="69533" cy="6953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390465" y="3809405"/>
            <a:ext cx="3760708" cy="179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CLV Prediction:</a:t>
            </a: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Customer lifetime value forecasting models</a:t>
            </a:r>
            <a:endParaRPr lang="en-US" sz="105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5684" y="4237196"/>
            <a:ext cx="69533" cy="6953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390465" y="4160758"/>
            <a:ext cx="3760708" cy="35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Web Application:</a:t>
            </a: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Production-ready deployment with API endpoints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5973247" y="5263515"/>
            <a:ext cx="6955512" cy="869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800"/>
              </a:lnSpc>
              <a:buNone/>
            </a:pPr>
            <a:r>
              <a:rPr lang="en-US" sz="5450" dirty="0">
                <a:solidFill>
                  <a:srgbClr val="481C9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5450" dirty="0"/>
          </a:p>
        </p:txBody>
      </p:sp>
      <p:sp>
        <p:nvSpPr>
          <p:cNvPr id="24" name="Text 17"/>
          <p:cNvSpPr/>
          <p:nvPr/>
        </p:nvSpPr>
        <p:spPr>
          <a:xfrm>
            <a:off x="5973247" y="6260783"/>
            <a:ext cx="8170307" cy="179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SAI KUMAR</a:t>
            </a: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| Computer Science and Engineering | AENEXZ TECH</a:t>
            </a:r>
            <a:endParaRPr lang="en-US" sz="10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72B7072-0D4C-CD47-F7B3-BC3734B1E992}"/>
              </a:ext>
            </a:extLst>
          </p:cNvPr>
          <p:cNvSpPr/>
          <p:nvPr/>
        </p:nvSpPr>
        <p:spPr>
          <a:xfrm>
            <a:off x="12811125" y="7715250"/>
            <a:ext cx="1752600" cy="43815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848</Words>
  <Application>Microsoft Office PowerPoint</Application>
  <PresentationFormat>Custom</PresentationFormat>
  <Paragraphs>128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Heebo Light</vt:lpstr>
      <vt:lpstr>Montserrat Light</vt:lpstr>
      <vt:lpstr>Arial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Saikumar Sangshetty</cp:lastModifiedBy>
  <cp:revision>4</cp:revision>
  <dcterms:created xsi:type="dcterms:W3CDTF">2026-03-24T08:32:26Z</dcterms:created>
  <dcterms:modified xsi:type="dcterms:W3CDTF">2026-03-24T09:11:21Z</dcterms:modified>
</cp:coreProperties>
</file>